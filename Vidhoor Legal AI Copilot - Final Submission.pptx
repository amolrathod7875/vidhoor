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703E19-3A70-4170-82DA-5B39545953BC}">
  <a:tblStyle styleId="{B4703E19-3A70-4170-82DA-5B39545953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2.jp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3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31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1225" y="1904107"/>
            <a:ext cx="7829550" cy="304978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95562" y="2485132"/>
            <a:ext cx="700087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Vidhoor AI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3542407"/>
            <a:ext cx="6667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Democratizing Justice through High-Speed Legal Intelligence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4098577"/>
            <a:ext cx="6667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Idea Submission: Round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1290"/>
            <a:ext cx="5276850" cy="1842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41290"/>
            <a:ext cx="5276850" cy="184204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3227040"/>
            <a:ext cx="494061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Our Mission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646140"/>
            <a:ext cx="4705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 bridge the gap between complex Indian legal frameworks and common citizens, while empowering law students and firms with an intelligent research copilot.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19875" y="3227040"/>
            <a:ext cx="494061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Core Advantage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19875" y="3646140"/>
            <a:ext cx="4705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Ultra-low latency inference (2,350 tokens/sec) combined with localized RAG over 851+ pages of specialized Indian law books.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52637"/>
            <a:ext cx="52768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62162"/>
            <a:ext cx="52578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2682329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Complex Jargon:</a:t>
            </a: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Average citizens cannot comprehend dense laws like the new BNS or BNSS.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81025" y="3469034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Research Inefficiency:</a:t>
            </a: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Professionals spend ~30% of their time on manual cross-referencing.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81025" y="4255740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Privacy Concerns:</a:t>
            </a: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Generic AI tools pose data leakage risks for sensitive case files.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2519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1189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9860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" name="Google Shape;122;p16"/>
          <p:cNvGraphicFramePr/>
          <p:nvPr/>
        </p:nvGraphicFramePr>
        <p:xfrm>
          <a:off x="581025" y="2481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{B4703E19-3A70-4170-82DA-5B39545953BC}</a:tableStyleId>
              </a:tblPr>
              <a:tblGrid>
                <a:gridCol w="2375000"/>
                <a:gridCol w="2603150"/>
                <a:gridCol w="2898275"/>
                <a:gridCol w="3153525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Generic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Databases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Vidhoor Legal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Legal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(Hallucinations)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(Text Search)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Expert (RAG Optimized)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Inference Speed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2,350 tokens/sec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Privacy (PII/E2EE)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Enterprise-Grade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Accessibility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Too Dense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8892B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Simplified Plain Language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16"/>
          <p:cNvSpPr/>
          <p:nvPr/>
        </p:nvSpPr>
        <p:spPr>
          <a:xfrm>
            <a:off x="581025" y="3081337"/>
            <a:ext cx="2374999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2956024" y="3081337"/>
            <a:ext cx="2603152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559176" y="3081337"/>
            <a:ext cx="2898278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457455" y="3081337"/>
            <a:ext cx="3153519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581025" y="3676650"/>
            <a:ext cx="23749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2956024" y="3676650"/>
            <a:ext cx="2603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559176" y="3676650"/>
            <a:ext cx="28982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457455" y="3676650"/>
            <a:ext cx="3153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81025" y="4257675"/>
            <a:ext cx="23749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956024" y="4257675"/>
            <a:ext cx="2603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559176" y="4257675"/>
            <a:ext cx="28982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457455" y="4257675"/>
            <a:ext cx="3153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4838700"/>
            <a:ext cx="23749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2956024" y="4838700"/>
            <a:ext cx="2603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559176" y="4838700"/>
            <a:ext cx="28982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457455" y="4838700"/>
            <a:ext cx="3153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81025" y="5419725"/>
            <a:ext cx="237499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956024" y="5419725"/>
            <a:ext cx="26031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559176" y="5419725"/>
            <a:ext cx="289827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457455" y="5419725"/>
            <a:ext cx="31535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Literature Survey &amp; Gap Analysis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2095500" y="2599432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The Intelligent Bridge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286000" y="3618607"/>
            <a:ext cx="7620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Vidhoor AI acts as a sophisticated translator, converting 160 years of legal evolution into real-time, actionable insights for every Indian.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4">
            <a:alphaModFix/>
          </a:blip>
          <a:srcRect b="11744" l="0" r="0" t="11751"/>
          <a:stretch/>
        </p:blipFill>
        <p:spPr>
          <a:xfrm>
            <a:off x="581025" y="2245965"/>
            <a:ext cx="34861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45965"/>
            <a:ext cx="34861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45965"/>
            <a:ext cx="34861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493871" y="5055840"/>
            <a:ext cx="366045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Constitution of India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81025" y="5265390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foundational legal document and citizen rights.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265771" y="5055840"/>
            <a:ext cx="366045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BNS / BNSS / BSA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352925" y="5265390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complete modern criminal justice statutes (2024).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037671" y="5055840"/>
            <a:ext cx="366045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IT &amp; Data Privacy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124825" y="5265390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DPDP Act and IT Law 2000 compliance training.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1150" y="2255490"/>
            <a:ext cx="14859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2450" y="2255490"/>
            <a:ext cx="346710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4350" y="2255490"/>
            <a:ext cx="346710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Core Knowledge Base &amp; Ingestion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68959"/>
            <a:ext cx="3486150" cy="1986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868959"/>
            <a:ext cx="3486150" cy="1986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868959"/>
            <a:ext cx="3486150" cy="1986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5500" y="315470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93908" y="3802409"/>
            <a:ext cx="30603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Inference Engine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4021484"/>
            <a:ext cx="2914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Llama 3.1 8B model hosted on Cerebras for ultra-low latency.</a:t>
            </a:r>
            <a:endParaRPr/>
          </a:p>
        </p:txBody>
      </p:sp>
      <p:pic>
        <p:nvPicPr>
          <p:cNvPr descr="image.png" id="182" name="Google Shape;18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3154709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565808" y="3802409"/>
            <a:ext cx="30603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Vector Storage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638675" y="4021484"/>
            <a:ext cx="2914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Oracle Autonomous DB with Hybrid Search capabilities.</a:t>
            </a:r>
            <a:endParaRPr/>
          </a:p>
        </p:txBody>
      </p:sp>
      <p:pic>
        <p:nvPicPr>
          <p:cNvPr descr="image.png" id="185" name="Google Shape;18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315470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8337708" y="3802409"/>
            <a:ext cx="30603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PII Redaction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410575" y="4021484"/>
            <a:ext cx="2914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Automated security layer integrated into the RAG workflow.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Proposed Technology Stack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71525" y="1508819"/>
            <a:ext cx="499062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Inference Velocity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81025" y="1508819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81025" y="4271069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Utilizing Cerebras acceleration, Vidhoor AI eliminates the "latency barrier," allowing legal professionals to query massive case histories instantly with real-time streaming results.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81025" y="2375594"/>
            <a:ext cx="4943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2,350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3613844"/>
            <a:ext cx="49434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Tokens Per Second Delivery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68" y="19573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1616868" y="2909887"/>
            <a:ext cx="1905000" cy="19050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236368" y="3028057"/>
            <a:ext cx="62912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■ B2B SaaS (50%):</a:t>
            </a: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Enterprise subscription for Law Firms.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236368" y="3584227"/>
            <a:ext cx="62912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■ Academic (30%):</a:t>
            </a: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Subscription model for Law Students.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236368" y="4140398"/>
            <a:ext cx="6291262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■ B2C Basic (20%):</a:t>
            </a:r>
            <a:r>
              <a:rPr b="0" i="0" lang="en-US" sz="18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Freemium tier for public legal literacy.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SaaS Revenue &amp; Business Model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47800"/>
            <a:ext cx="110299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81025" y="451098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Based on testing against 851 pages of Indian legal statutes and indexed precedents.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Expected Impact: Time Savings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6146" y="338330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3916" y="338330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1685" y="338330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59454" y="338330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581025" y="4081462"/>
            <a:ext cx="11029950" cy="381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520362" y="405005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Ingestion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81025" y="4269134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Data cleaning of 851 pages of core Indian statutes.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3388131" y="405005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RAG Build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3448794" y="4269134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Establishing Hybrid Search on Oracle Autonomous DB.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255900" y="405005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Privacy Dev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316563" y="4269134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Integrating PII redaction &amp; E2EE security protocols.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123670" y="4050059"/>
            <a:ext cx="25478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CD6F6"/>
                </a:solidFill>
                <a:latin typeface="Urbanist"/>
                <a:ea typeface="Urbanist"/>
                <a:cs typeface="Urbanist"/>
                <a:sym typeface="Urbanist"/>
              </a:rPr>
              <a:t>Scale Out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184332" y="4269134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Deployment of Academic tier and B2B SaaS platform.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Project Roadmap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/>
          <p:nvPr/>
        </p:nvSpPr>
        <p:spPr>
          <a:xfrm>
            <a:off x="581025" y="144780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81025" y="223257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81025" y="3017341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81025" y="400020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81025" y="478497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81025" y="22230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81025" y="222304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81025" y="30078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81025" y="300781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81025" y="399067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81025" y="399067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81025" y="47754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81025" y="477544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81025" y="57583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81025" y="57583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97223"/>
            <a:ext cx="130492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1676400" y="159067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https://speakwrite.com/wp-content/smush-webp/2025/03/Lawyer-Stress1.png.webp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1676400" y="183639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speakwrite.com</a:t>
            </a:r>
            <a:endParaRPr/>
          </a:p>
        </p:txBody>
      </p:sp>
      <p:pic>
        <p:nvPicPr>
          <p:cNvPr descr="image.png" id="265" name="Google Shape;2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81994"/>
            <a:ext cx="1057275" cy="82287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1676400" y="237544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https://tile.loc.gov/image-services/iiif/service:ll:llscd:57026883:00010000/full/pct:25/0/default.jpg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1676400" y="2621160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www.loc.gov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65884"/>
            <a:ext cx="149542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1676400" y="3160216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https://mandjservice.com/cdn/shop/files/law-and-practice-series-bharatiya-nyaya-sanhita-bns-or-bharatiya-nagarik-suraksha-sanhita-bnss-or-bharatiya-sakshya-adhiniyam-bsa-or-set-of-3-books_512x518.jpg?v=1744955697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676400" y="36040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mandjservice.com</a:t>
            </a:r>
            <a:endParaRPr/>
          </a:p>
        </p:txBody>
      </p:sp>
      <p:pic>
        <p:nvPicPr>
          <p:cNvPr descr="image.png" id="271" name="Google Shape;27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49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 txBox="1"/>
          <p:nvPr/>
        </p:nvSpPr>
        <p:spPr>
          <a:xfrm>
            <a:off x="1676400" y="4143077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https://png.pngtree.com/png-vector/20260330/ourlarge/pngtree-cyber-security-padlock-shield-icon-protects-data-with-green-neon-light-png-image_18979291.webp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1676400" y="438879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74" name="Google Shape;27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033516"/>
            <a:ext cx="1609725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1676400" y="492784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079/422/855/small_2x/abstract-flowing-data-fiber-optic-light-trail-digital-network-stream-technology-background-blue-light-futuristic-communication-concept-with-glowing-lines-particles-moving-through-dark-space-motion-free-video.jpg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676400" y="537165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9172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1676400" y="591070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https://images.stockcake.com/public/a/b/f/abf5ec05-faa4-405f-8f75-8cfba45cfd9f_large/legal-technology-concept-stockcake.jpg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1676400" y="615642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